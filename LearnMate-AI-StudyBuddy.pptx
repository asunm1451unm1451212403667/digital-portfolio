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Heebo Light"/>
      <p:regular r:id="rId201314"/>
    </p:embeddedFont>
    <p:embeddedFont>
      <p:font typeface="Heebo"/>
      <p:regular r:id="rId201315"/>
    </p:embeddedFont>
    <p:embeddedFont>
      <p:font typeface="Heebo Medium"/>
      <p:regular r:id="rId201316"/>
    </p:embeddedFont>
    <p:embeddedFont>
      <p:font typeface="Heebo SemiBold"/>
      <p:regular r:id="rId201317"/>
    </p:embeddedFont>
    <p:embeddedFont>
      <p:font typeface="Heebo Bold"/>
      <p:regular r:id="rId201318"/>
    </p:embeddedFont>
    <p:embeddedFont>
      <p:font typeface="Montserrat SemiBold"/>
      <p:regular r:id="rId201319"/>
    </p:embeddedFont>
    <p:embeddedFont>
      <p:font typeface="Montserrat Medium"/>
      <p:regular r:id="rId2013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2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156" y="736600"/>
            <a:ext cx="6495887" cy="1184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400" spc="-110" kern="100" dirty="0">
                <a:solidFill>
                  <a:srgbClr val="07293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LearnMate - AI StudyBuddy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65156" y="2111573"/>
            <a:ext cx="6495887" cy="690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000" spc="-50" kern="10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AI-Powered Learning Assistance &amp; Smart Study Support Platform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65156" y="3081635"/>
            <a:ext cx="2143468" cy="31651"/>
          </a:xfrm>
          <a:prstGeom prst="roundRect">
            <a:avLst>
              <a:gd name="adj" fmla="val 49998"/>
            </a:avLst>
          </a:prstGeom>
          <a:solidFill>
            <a:srgbClr val="BFD9DE"/>
          </a:solidFill>
          <a:ln/>
        </p:spPr>
      </p:sp>
      <p:sp>
        <p:nvSpPr>
          <p:cNvPr id="5" name="Text 3"/>
          <p:cNvSpPr/>
          <p:nvPr/>
        </p:nvSpPr>
        <p:spPr>
          <a:xfrm>
            <a:off x="765156" y="3430984"/>
            <a:ext cx="7105472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Built with Node.js, Express.js, MongoDB, &amp; Google Gemini AI API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856581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07293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Challenges in Academic Preparation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585" y="2653903"/>
            <a:ext cx="3620798" cy="31651"/>
          </a:xfrm>
          <a:prstGeom prst="roundRect">
            <a:avLst>
              <a:gd name="adj" fmla="val 49998"/>
            </a:avLst>
          </a:prstGeom>
          <a:solidFill>
            <a:srgbClr val="BFD9D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3003252"/>
            <a:ext cx="3454314" cy="199816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879" y="3244552"/>
            <a:ext cx="321302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385F6C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50879" y="3551238"/>
            <a:ext cx="2971726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24444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Fragmented study resources: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notes, PDFs, and textbooks scattered across different platforms.</a:t>
            </a:r>
            <a:endParaRPr lang="en-US" sz="17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691" y="3003252"/>
            <a:ext cx="3454314" cy="199816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09985" y="3244552"/>
            <a:ext cx="321302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385F6C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609985" y="3551238"/>
            <a:ext cx="2971726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24444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Time-consuming manual prep: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hours spent writing summaries, revision notes, and flashcards.</a:t>
            </a:r>
            <a:endParaRPr lang="en-US" sz="17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797" y="3003252"/>
            <a:ext cx="3454314" cy="199816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369091" y="3244552"/>
            <a:ext cx="321302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385F6C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03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8369091" y="3551238"/>
            <a:ext cx="2971726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24444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Limited personalized self-testing: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difficulty finding quizzes matched to a specific course syllabus.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76678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263" y="533400"/>
            <a:ext cx="6095848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07293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Introducing LearnMate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263" y="1330722"/>
            <a:ext cx="2011610" cy="31651"/>
          </a:xfrm>
          <a:prstGeom prst="roundRect">
            <a:avLst>
              <a:gd name="adj" fmla="val 49998"/>
            </a:avLst>
          </a:prstGeom>
          <a:solidFill>
            <a:srgbClr val="BFD9DE"/>
          </a:solidFill>
          <a:ln/>
        </p:spPr>
      </p:sp>
      <p:sp>
        <p:nvSpPr>
          <p:cNvPr id="5" name="Text 2"/>
          <p:cNvSpPr/>
          <p:nvPr/>
        </p:nvSpPr>
        <p:spPr>
          <a:xfrm>
            <a:off x="5486263" y="1680071"/>
            <a:ext cx="6095848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An all-in-one AI-driven study assistant that transforms raw learning materials into interactive revision tools.</a:t>
            </a:r>
            <a:endParaRPr lang="en-US" sz="1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263" y="2475012"/>
            <a:ext cx="6095848" cy="7721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21207" y="2709962"/>
            <a:ext cx="586090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24444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Automated summarization</a:t>
            </a:r>
            <a:endParaRPr lang="en-US" sz="17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263" y="3399532"/>
            <a:ext cx="6095848" cy="7721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721207" y="3634482"/>
            <a:ext cx="586090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24444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Smart active recall</a:t>
            </a:r>
            <a:endParaRPr lang="en-US" sz="17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263" y="4324052"/>
            <a:ext cx="6095848" cy="7721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721207" y="4559002"/>
            <a:ext cx="586090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24444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Personalized exam schedules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536105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07293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Core Intelligent Capabilities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585" y="2333427"/>
            <a:ext cx="3620798" cy="31651"/>
          </a:xfrm>
          <a:prstGeom prst="roundRect">
            <a:avLst>
              <a:gd name="adj" fmla="val 49998"/>
            </a:avLst>
          </a:prstGeom>
          <a:solidFill>
            <a:srgbClr val="BFD9DE"/>
          </a:solidFill>
          <a:ln/>
        </p:spPr>
      </p:sp>
      <p:sp>
        <p:nvSpPr>
          <p:cNvPr id="4" name="Shape 2"/>
          <p:cNvSpPr/>
          <p:nvPr/>
        </p:nvSpPr>
        <p:spPr>
          <a:xfrm>
            <a:off x="609585" y="2682776"/>
            <a:ext cx="3454314" cy="2639120"/>
          </a:xfrm>
          <a:prstGeom prst="roundRect">
            <a:avLst>
              <a:gd name="adj" fmla="val 8084"/>
            </a:avLst>
          </a:prstGeom>
          <a:solidFill>
            <a:srgbClr val="E3F3F5"/>
          </a:solidFill>
          <a:ln w="12700">
            <a:solidFill>
              <a:srgbClr val="07293A">
                <a:alpha val="14000"/>
              </a:srgbClr>
            </a:solidFill>
            <a:prstDash val="solid"/>
          </a:ln>
          <a:effectLst>
            <a:outerShdw sx="100000" sy="100000" kx="0" ky="0" algn="bl" rotWithShape="0" blurRad="127" dist="11430" dir="5400000">
              <a:srgbClr val="07293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0879" y="2924076"/>
            <a:ext cx="321302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24444F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879" y="3192661"/>
            <a:ext cx="2971726" cy="828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Instant AI summarizer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50879" y="4173934"/>
            <a:ext cx="2971726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concise, structured key concepts from uploaded PDFs and notes.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8691" y="2682776"/>
            <a:ext cx="3454314" cy="2639120"/>
          </a:xfrm>
          <a:prstGeom prst="roundRect">
            <a:avLst>
              <a:gd name="adj" fmla="val 8084"/>
            </a:avLst>
          </a:prstGeom>
          <a:solidFill>
            <a:srgbClr val="E3F3F5"/>
          </a:solidFill>
          <a:ln w="12700">
            <a:solidFill>
              <a:srgbClr val="07293A">
                <a:alpha val="14000"/>
              </a:srgbClr>
            </a:solidFill>
            <a:prstDash val="solid"/>
          </a:ln>
          <a:effectLst>
            <a:outerShdw sx="100000" sy="100000" kx="0" ky="0" algn="bl" rotWithShape="0" blurRad="127" dist="11430" dir="5400000">
              <a:srgbClr val="07293a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09985" y="2924076"/>
            <a:ext cx="321302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24444F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09985" y="3192661"/>
            <a:ext cx="2971726" cy="828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Smart flashcards &amp; quiz generator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609985" y="4173934"/>
            <a:ext cx="2971726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interactive multiple-choice questions and recall cards.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27797" y="2682776"/>
            <a:ext cx="3454314" cy="2639120"/>
          </a:xfrm>
          <a:prstGeom prst="roundRect">
            <a:avLst>
              <a:gd name="adj" fmla="val 8084"/>
            </a:avLst>
          </a:prstGeom>
          <a:solidFill>
            <a:srgbClr val="E3F3F5"/>
          </a:solidFill>
          <a:ln w="12700">
            <a:solidFill>
              <a:srgbClr val="07293A">
                <a:alpha val="14000"/>
              </a:srgbClr>
            </a:solidFill>
            <a:prstDash val="solid"/>
          </a:ln>
          <a:effectLst>
            <a:outerShdw sx="100000" sy="100000" kx="0" ky="0" algn="bl" rotWithShape="0" blurRad="127" dist="11430" dir="5400000">
              <a:srgbClr val="07293a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69091" y="2924076"/>
            <a:ext cx="321302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24444F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69091" y="3192661"/>
            <a:ext cx="2971726" cy="828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Dynamic study planner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369091" y="4173934"/>
            <a:ext cx="2971726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customized schedules based on exam dates and subject priorities.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509" cy="6858000"/>
          </a:xfrm>
          <a:prstGeom prst="rect">
            <a:avLst/>
          </a:prstGeom>
          <a:solidFill>
            <a:srgbClr val="176FC1"/>
          </a:solidFill>
          <a:ln/>
        </p:spPr>
      </p:sp>
      <p:sp>
        <p:nvSpPr>
          <p:cNvPr id="3" name="Text 1"/>
          <p:cNvSpPr/>
          <p:nvPr/>
        </p:nvSpPr>
        <p:spPr>
          <a:xfrm>
            <a:off x="355591" y="431800"/>
            <a:ext cx="2946326" cy="1373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Modular System Architecture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55591" y="2144514"/>
            <a:ext cx="972220" cy="31651"/>
          </a:xfrm>
          <a:prstGeom prst="roundRect">
            <a:avLst>
              <a:gd name="adj" fmla="val 49998"/>
            </a:avLst>
          </a:prstGeom>
          <a:solidFill>
            <a:srgbClr val="BFD9DE"/>
          </a:solidFill>
          <a:ln/>
        </p:spPr>
      </p:sp>
      <p:sp>
        <p:nvSpPr>
          <p:cNvPr id="5" name="Text 3"/>
          <p:cNvSpPr/>
          <p:nvPr/>
        </p:nvSpPr>
        <p:spPr>
          <a:xfrm>
            <a:off x="4089298" y="2290266"/>
            <a:ext cx="7670608" cy="2277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7000"/>
              </a:lnSpc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24444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Frontend interface:</a:t>
            </a:r>
            <a:pPr algn="l" marL="345440" indent="-345440">
              <a:lnSpc>
                <a:spcPct val="117000"/>
              </a:lnSpc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clean dashboard for uploading content and reviewing notes.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700" b="1" dirty="0">
                <a:solidFill>
                  <a:srgbClr val="24444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RESTful backend API:</a:t>
            </a:r>
            <a:pPr algn="l" marL="345440" indent="-345440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70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Express.js controllers manage routes, authentication, and logic.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700" b="1" dirty="0">
                <a:solidFill>
                  <a:srgbClr val="24444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Generative AI integration:</a:t>
            </a:r>
            <a:pPr algn="l" marL="345440" indent="-345440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70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fast asynchronous calls to Google Gemini 2.5 Flash.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1700" b="1" dirty="0">
                <a:solidFill>
                  <a:srgbClr val="24444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NoSQL database layer:</a:t>
            </a:r>
            <a:pPr algn="l" marL="345440" indent="-345440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170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MongoDB stores user data, quizzes, and history.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049338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07293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Technical Stack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585" y="1846659"/>
            <a:ext cx="3620798" cy="31651"/>
          </a:xfrm>
          <a:prstGeom prst="roundRect">
            <a:avLst>
              <a:gd name="adj" fmla="val 49998"/>
            </a:avLst>
          </a:prstGeom>
          <a:solidFill>
            <a:srgbClr val="BFD9D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196009"/>
            <a:ext cx="5333867" cy="16538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879" y="2437309"/>
            <a:ext cx="4851279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Runtime &amp; API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50879" y="3004145"/>
            <a:ext cx="509257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24444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Node.js &amp; Express.js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for RESTful APIs and routing.</a:t>
            </a:r>
            <a:endParaRPr lang="en-US" sz="17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244" y="2196009"/>
            <a:ext cx="5333867" cy="165387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89538" y="2437309"/>
            <a:ext cx="4851279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Database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6489538" y="3004145"/>
            <a:ext cx="4851279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24444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MongoDB &amp; Mongoose ODM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for document storage.</a:t>
            </a:r>
            <a:endParaRPr lang="en-US" sz="17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4154686"/>
            <a:ext cx="5333867" cy="165387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50879" y="4395986"/>
            <a:ext cx="4851279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AI engine</a:t>
            </a:r>
            <a:endParaRPr lang="en-US" sz="2400" dirty="0"/>
          </a:p>
        </p:txBody>
      </p:sp>
      <p:sp>
        <p:nvSpPr>
          <p:cNvPr id="12" name="Text 7"/>
          <p:cNvSpPr/>
          <p:nvPr/>
        </p:nvSpPr>
        <p:spPr>
          <a:xfrm>
            <a:off x="850879" y="4962823"/>
            <a:ext cx="4851279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24444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Google Gemini 2.5 Flash API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for NLP, summarization, and Q&amp;A.</a:t>
            </a:r>
            <a:endParaRPr lang="en-US" sz="17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244" y="4154686"/>
            <a:ext cx="5333867" cy="165387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489538" y="4395986"/>
            <a:ext cx="4851279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Security</a:t>
            </a:r>
            <a:endParaRPr lang="en-US" sz="2400" dirty="0"/>
          </a:p>
        </p:txBody>
      </p:sp>
      <p:sp>
        <p:nvSpPr>
          <p:cNvPr id="15" name="Text 9"/>
          <p:cNvSpPr/>
          <p:nvPr/>
        </p:nvSpPr>
        <p:spPr>
          <a:xfrm>
            <a:off x="6489538" y="4962823"/>
            <a:ext cx="4851279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24444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JWT &amp; bcryptjs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for token auth and password hashing.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07293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Security &amp; User Authorization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585" y="1406922"/>
            <a:ext cx="3620798" cy="31651"/>
          </a:xfrm>
          <a:prstGeom prst="roundRect">
            <a:avLst>
              <a:gd name="adj" fmla="val 49998"/>
            </a:avLst>
          </a:prstGeom>
          <a:solidFill>
            <a:srgbClr val="BFD9D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908895"/>
            <a:ext cx="5943451" cy="3949105"/>
          </a:xfrm>
          <a:prstGeom prst="roundRect">
            <a:avLst>
              <a:gd name="adj" fmla="val 5403"/>
            </a:avLst>
          </a:prstGeom>
          <a:solidFill>
            <a:srgbClr val="E3F3F5"/>
          </a:solidFill>
          <a:ln w="12700">
            <a:solidFill>
              <a:srgbClr val="07293A">
                <a:alpha val="14000"/>
              </a:srgbClr>
            </a:solidFill>
            <a:prstDash val="solid"/>
          </a:ln>
          <a:effectLst>
            <a:outerShdw sx="100000" sy="100000" kx="0" ky="0" algn="bl" rotWithShape="0" blurRad="127" dist="11430" dir="5400000">
              <a:srgbClr val="07293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2284" y="3531195"/>
            <a:ext cx="4698882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JWT authentication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22284" y="4098032"/>
            <a:ext cx="4698882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secure session management protects API endpoints.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22284" y="5064423"/>
            <a:ext cx="4698882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Encrypted credentials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2284" y="5631259"/>
            <a:ext cx="5308467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salted password hashing with bcryptjs.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48244" y="2908895"/>
            <a:ext cx="5943451" cy="3949105"/>
          </a:xfrm>
          <a:prstGeom prst="roundRect">
            <a:avLst>
              <a:gd name="adj" fmla="val 5403"/>
            </a:avLst>
          </a:prstGeom>
          <a:solidFill>
            <a:srgbClr val="176FC1"/>
          </a:solidFill>
          <a:ln w="12700">
            <a:solidFill>
              <a:srgbClr val="07293A">
                <a:alpha val="14000"/>
              </a:srgbClr>
            </a:solidFill>
            <a:prstDash val="solid"/>
          </a:ln>
          <a:effectLst>
            <a:outerShdw sx="100000" sy="100000" kx="0" ky="0" algn="bl" rotWithShape="0" blurRad="127" dist="11430" dir="5400000">
              <a:srgbClr val="07293a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70528" y="3531195"/>
            <a:ext cx="4698882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Student access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870528" y="4098032"/>
            <a:ext cx="4698882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upload documents, generate study materials, and track personal progress.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870528" y="5064423"/>
            <a:ext cx="4698882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Admin dashboard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870528" y="5631259"/>
            <a:ext cx="4698882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monitor usage, audit system logs, and manage accounts.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820168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07293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End-to-End Student Workflow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585" y="2617490"/>
            <a:ext cx="3620798" cy="31651"/>
          </a:xfrm>
          <a:prstGeom prst="roundRect">
            <a:avLst>
              <a:gd name="adj" fmla="val 49998"/>
            </a:avLst>
          </a:prstGeom>
          <a:solidFill>
            <a:srgbClr val="BFD9DE"/>
          </a:solidFill>
          <a:ln/>
        </p:spPr>
      </p:sp>
      <p:sp>
        <p:nvSpPr>
          <p:cNvPr id="4" name="Shape 2"/>
          <p:cNvSpPr/>
          <p:nvPr/>
        </p:nvSpPr>
        <p:spPr>
          <a:xfrm>
            <a:off x="609585" y="2966839"/>
            <a:ext cx="246056" cy="255687"/>
          </a:xfrm>
          <a:prstGeom prst="rect">
            <a:avLst/>
          </a:prstGeom>
          <a:solidFill>
            <a:srgbClr val="0E8FA8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986683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76FC1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71536" y="2966839"/>
            <a:ext cx="4795718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Auth &amp; onboarding: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71536" y="3320355"/>
            <a:ext cx="5024312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secure login opens a personalized dashboard.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324442" y="2966839"/>
            <a:ext cx="246056" cy="255687"/>
          </a:xfrm>
          <a:prstGeom prst="rect">
            <a:avLst/>
          </a:prstGeom>
          <a:solidFill>
            <a:srgbClr val="0E8FA8"/>
          </a:solidFill>
          <a:ln/>
        </p:spPr>
      </p:sp>
      <p:sp>
        <p:nvSpPr>
          <p:cNvPr id="9" name="Text 7"/>
          <p:cNvSpPr/>
          <p:nvPr/>
        </p:nvSpPr>
        <p:spPr>
          <a:xfrm>
            <a:off x="6324442" y="2986683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76FC1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786393" y="2966839"/>
            <a:ext cx="4795718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Material ingestion: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786393" y="3320355"/>
            <a:ext cx="479571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upload lecture notes, slides, or PDF textbooks.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09585" y="4079776"/>
            <a:ext cx="246056" cy="255687"/>
          </a:xfrm>
          <a:prstGeom prst="rect">
            <a:avLst/>
          </a:prstGeom>
          <a:solidFill>
            <a:srgbClr val="0E8FA8"/>
          </a:solidFill>
          <a:ln/>
        </p:spPr>
      </p:sp>
      <p:sp>
        <p:nvSpPr>
          <p:cNvPr id="13" name="Text 11"/>
          <p:cNvSpPr/>
          <p:nvPr/>
        </p:nvSpPr>
        <p:spPr>
          <a:xfrm>
            <a:off x="609585" y="4099620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76FC1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71536" y="4079776"/>
            <a:ext cx="4795718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AI engine processing: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071536" y="4433292"/>
            <a:ext cx="4795718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Gemini parses text and generates summaries and quizzes.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324442" y="4079776"/>
            <a:ext cx="246056" cy="255687"/>
          </a:xfrm>
          <a:prstGeom prst="rect">
            <a:avLst/>
          </a:prstGeom>
          <a:solidFill>
            <a:srgbClr val="0E8FA8"/>
          </a:solidFill>
          <a:ln/>
        </p:spPr>
      </p:sp>
      <p:sp>
        <p:nvSpPr>
          <p:cNvPr id="17" name="Text 15"/>
          <p:cNvSpPr/>
          <p:nvPr/>
        </p:nvSpPr>
        <p:spPr>
          <a:xfrm>
            <a:off x="6324442" y="4099620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76FC1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786393" y="4079776"/>
            <a:ext cx="4795718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Interactive revision: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786393" y="4433292"/>
            <a:ext cx="4795718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practice flashcards, take quizzes, and track performance.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089498" y="2966839"/>
            <a:ext cx="12700" cy="884337"/>
          </a:xfrm>
          <a:prstGeom prst="rect">
            <a:avLst/>
          </a:prstGeom>
          <a:solidFill>
            <a:srgbClr val="BFD9DE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585" y="3844826"/>
            <a:ext cx="5486263" cy="12700"/>
          </a:xfrm>
          <a:prstGeom prst="rect">
            <a:avLst/>
          </a:prstGeom>
          <a:solidFill>
            <a:srgbClr val="BFD9DE"/>
          </a:solidFill>
          <a:ln/>
        </p:spPr>
      </p:sp>
      <p:sp>
        <p:nvSpPr>
          <p:cNvPr id="22" name="Shape 20"/>
          <p:cNvSpPr/>
          <p:nvPr/>
        </p:nvSpPr>
        <p:spPr>
          <a:xfrm>
            <a:off x="6089498" y="3851176"/>
            <a:ext cx="12700" cy="1186557"/>
          </a:xfrm>
          <a:prstGeom prst="rect">
            <a:avLst/>
          </a:prstGeom>
          <a:solidFill>
            <a:srgbClr val="BFD9DE"/>
          </a:solidFill>
          <a:ln/>
        </p:spPr>
      </p:sp>
      <p:sp>
        <p:nvSpPr>
          <p:cNvPr id="23" name="Shape 21"/>
          <p:cNvSpPr/>
          <p:nvPr/>
        </p:nvSpPr>
        <p:spPr>
          <a:xfrm>
            <a:off x="6095848" y="3844826"/>
            <a:ext cx="5486263" cy="12700"/>
          </a:xfrm>
          <a:prstGeom prst="rect">
            <a:avLst/>
          </a:prstGeom>
          <a:solidFill>
            <a:srgbClr val="BFD9DE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773238"/>
            <a:ext cx="4648084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07293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Learning Productivity &amp; Results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585" y="3028255"/>
            <a:ext cx="1533685" cy="31651"/>
          </a:xfrm>
          <a:prstGeom prst="roundRect">
            <a:avLst>
              <a:gd name="adj" fmla="val 49998"/>
            </a:avLst>
          </a:prstGeom>
          <a:solidFill>
            <a:srgbClr val="BFD9DE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3549055"/>
            <a:ext cx="4648084" cy="99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8200" spc="-287" kern="100" dirty="0">
                <a:solidFill>
                  <a:srgbClr val="0A8199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80%</a:t>
            </a:r>
            <a:endParaRPr lang="en-US" sz="8200" dirty="0"/>
          </a:p>
        </p:txBody>
      </p:sp>
      <p:sp>
        <p:nvSpPr>
          <p:cNvPr id="5" name="Text 3"/>
          <p:cNvSpPr/>
          <p:nvPr/>
        </p:nvSpPr>
        <p:spPr>
          <a:xfrm>
            <a:off x="609585" y="4739283"/>
            <a:ext cx="4648084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000" spc="-50" kern="10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reduction in study preparation time.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324442" y="1755279"/>
            <a:ext cx="2781230" cy="3347442"/>
          </a:xfrm>
          <a:prstGeom prst="roundRect">
            <a:avLst>
              <a:gd name="adj" fmla="val 7671"/>
            </a:avLst>
          </a:prstGeom>
          <a:solidFill>
            <a:srgbClr val="E3F3F5"/>
          </a:solidFill>
          <a:ln w="6350">
            <a:solidFill>
              <a:srgbClr val="BFD9DE"/>
            </a:solidFill>
            <a:prstDash val="solid"/>
          </a:ln>
          <a:effectLst>
            <a:outerShdw sx="100000" sy="100000" kx="0" ky="0" algn="bl" rotWithShape="0" blurRad="127" dist="11430" dir="5400000">
              <a:srgbClr val="07293a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940376" y="2371229"/>
            <a:ext cx="1549361" cy="1511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Shifts focus from manual note-taking to conceptual understanding.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410465" y="1755279"/>
            <a:ext cx="2781230" cy="3347442"/>
          </a:xfrm>
          <a:prstGeom prst="roundRect">
            <a:avLst>
              <a:gd name="adj" fmla="val 7671"/>
            </a:avLst>
          </a:prstGeom>
          <a:solidFill>
            <a:srgbClr val="E3F3F5"/>
          </a:solidFill>
          <a:ln w="6350">
            <a:solidFill>
              <a:srgbClr val="BFD9DE"/>
            </a:solidFill>
            <a:prstDash val="solid"/>
          </a:ln>
          <a:effectLst>
            <a:outerShdw sx="100000" sy="100000" kx="0" ky="0" algn="bl" rotWithShape="0" blurRad="127" dist="11430" dir="5400000">
              <a:srgbClr val="07293a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26399" y="2371229"/>
            <a:ext cx="1549361" cy="2115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Boosts active recall and long-term memory retention through dynamic quizzing.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951534"/>
            <a:ext cx="6095848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07293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Empowering the Future of Learning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585" y="3206552"/>
            <a:ext cx="2011610" cy="31651"/>
          </a:xfrm>
          <a:prstGeom prst="roundRect">
            <a:avLst>
              <a:gd name="adj" fmla="val 49998"/>
            </a:avLst>
          </a:prstGeom>
          <a:solidFill>
            <a:srgbClr val="BFD9DE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3555901"/>
            <a:ext cx="6095848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450"/>
              </a:spcAft>
              <a:buNone/>
            </a:pPr>
            <a:r>
              <a:rPr lang="en-US" sz="170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An all-in-one AI-driven study assistant that transforms raw learning materials into interactive revision tools.</a:t>
            </a:r>
            <a:endParaRPr lang="en-US" sz="17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Thank you! Questions &amp; Discussion.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09585" y="4843562"/>
            <a:ext cx="6705432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7" kern="100" dirty="0">
                <a:solidFill>
                  <a:srgbClr val="385F6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www.learnmate-aistudybuddy.com</a:t>
            </a:r>
            <a:endParaRPr lang="en-US" sz="11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2026-10-02T10:26:09Z</dcterms:created>
  <dcterms:modified xsi:type="dcterms:W3CDTF">2026-10-02T10:26:09Z</dcterms:modified>
</cp:coreProperties>
</file>